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5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8782F-7929-4AF4-8C79-44C7F2358028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548FE-4AA3-4040-8A95-03C9CA907FA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8710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DCFA4-EB42-EC1C-EF81-083E5F7A0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418A4-641C-695E-97FF-E69F0D50A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C712A-B420-DCD6-9255-16493BF68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E5EE-F3CC-4472-8FB8-D4C74E39C395}" type="datetime1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65394-AE95-F03E-4196-DCBBA893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8D89E-18FC-8A93-5DC1-A183559A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312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C42A-6B72-5F96-7E69-DF8E5BE9D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C600A-EFF0-1145-C89B-AB260B5C3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F6BEF-E230-84AA-20DC-18278F15A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8AA83-68DC-4816-ACE4-D6D4AFBA8F66}" type="datetime1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8BB84-5596-4AAB-5E86-3E763E89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91E7E-5D77-D1D7-50A1-B13CF754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6829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E0B3-6D6F-0D14-902E-E79C56C9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20FA9-0B7A-38E5-A76A-3A7268EA9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56831-C4EB-9549-E423-68513766D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92FB0-0933-4FCA-82BB-F039B47A9434}" type="datetime1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DAA7F-DC0D-2074-28FA-660D50E0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AB7E-4B74-1544-F7BB-1D68ACED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83591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20A4-648B-6D94-4FC4-EE67F18B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250BE-6C67-4B35-5E82-3B1323EB9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0D168-6164-FA7A-90E4-BD057A424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4CB22-A801-2255-B77C-8A2B9149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11FF-993C-43E6-9FBC-5050A2405A58}" type="datetime1">
              <a:rPr lang="LID4096" smtClean="0"/>
              <a:t>01/21/2026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8D35F-D603-EBEB-D94E-A77EE11D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A32DF-489B-BBFA-64BD-30113153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868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5B1F-830C-B443-D04A-4782DB0C7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6F74E-028B-0FB0-167D-2C40EFAC0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CE1C4-D8B4-F5D9-06EF-DED22706C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02A0F2-A988-E699-D565-25F9F3DE7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8EF9FD-C5E1-DBF4-6AEF-5A6920168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9E8332-75C1-EDE1-8F62-529D417C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FFEE-9405-4BE5-AEC4-CD091F191D37}" type="datetime1">
              <a:rPr lang="LID4096" smtClean="0"/>
              <a:t>01/21/2026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D42DD-D912-0BB1-22AD-FB9664C3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53EC65-95B0-190B-1085-A5E8D1D7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962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66F17-6A2F-62AB-089F-6A7826FA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000E8-2A93-0478-B8F9-0FE63E8A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F824-2AA6-4EFF-9947-AA764AA33A48}" type="datetime1">
              <a:rPr lang="LID4096" smtClean="0"/>
              <a:t>01/21/2026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41C2C-DA1B-660B-F846-E4D8411D0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7456A-4873-81AD-B638-0E4EF4FE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804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BAC58B-68CF-90A1-05DF-6607F30A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78DA9-23B7-4D9F-B7E0-DA7B3B623AB7}" type="datetime1">
              <a:rPr lang="LID4096" smtClean="0"/>
              <a:t>01/21/2026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03886-C027-9108-29F6-9134342D3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8EB07-19E9-484B-D235-839BDE99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923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F4BAC-C6E9-3860-B683-BC4E7AD6F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33DA2-0C68-0BB0-728C-DE813C308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66F2F-CA3B-63DA-425D-954F0FB28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9D47B-EAE2-C70C-128D-035E6B7E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CF029-0103-4725-B17B-2DFC903E0561}" type="datetime1">
              <a:rPr lang="LID4096" smtClean="0"/>
              <a:t>01/21/2026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25F0B-CF18-7DC7-D0EB-1388DB88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47DF7-21E8-E786-71D8-75AA64DD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528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6552-3A7E-CC25-4D95-7F0D5C83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8C9E74-43AE-DACC-2000-1E5305AE6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F6452-2DC4-CF12-BE8F-7794BC450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78AF-1BC6-05CB-8DBA-82D8E0D8F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5F6B1-48AC-4A86-9F3A-87907B0853EF}" type="datetime1">
              <a:rPr lang="LID4096" smtClean="0"/>
              <a:t>01/21/2026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F688A-D0FF-2963-0136-39FB88C63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4E234-7575-BFD2-75FD-03C2DB91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262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523B-4F6D-A1E0-78DB-9B9AA88AE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AEF12-BB64-FE0B-7BA9-5035025DD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F2091-B772-13BF-93D4-4C3DE82B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5B85-3D48-4C54-A727-55256FE7E046}" type="datetime1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7A4C0-39AC-9FFC-F6D2-58EE8A716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495DC-9A72-8C3E-473F-17CB59BE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621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F5CE2A-C0A8-B76A-41BB-022BA9D85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B3A5E-378F-40B1-814F-4F33B420F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8BBBC-3578-77E1-6DE9-E3B6DE66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9DC4-644A-43F7-A718-44025240ED96}" type="datetime1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73C20-6715-B68A-37A7-6022EB87D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9F40F-FC30-8CB3-9882-36D9B664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93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318DBD-55C2-7D0A-9894-24FBA142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973C8-6376-ECDC-D778-7493517A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E066D-8CF5-8CF7-198A-850915581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B20C6-2854-4B58-9A5A-306CA22AF6F6}" type="datetime1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0310-2B70-B49D-5C9C-89AA1A55E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F7A40-B078-DE1A-9944-27E552008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61B6C-E816-4669-B4AB-B1DC65E1D7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491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CD4D6-C34D-555F-B01B-937DD8E4E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GB" sz="7200"/>
              <a:t>Reinforcement Learning Project - </a:t>
            </a:r>
            <a:endParaRPr lang="LID4096" sz="7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7E59A-6463-B995-5520-411B7D312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GB" sz="2800" dirty="0"/>
              <a:t>Shlomi Friedman | Kfir Amoyal</a:t>
            </a:r>
            <a:endParaRPr lang="LID4096" sz="28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06A15-F177-FBC4-172A-3E50FED9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019" y="6356350"/>
            <a:ext cx="126881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461B6C-E816-4669-B4AB-B1DC65E1D715}" type="slidenum">
              <a:rPr lang="LID4096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LID4096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90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49917-47F8-3939-8A5C-B27872208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Reward Shaping Functions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F156BED-E00E-0F31-9495-C00D272F95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69936" y="361950"/>
            <a:ext cx="7566501" cy="58578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GB" altLang="LID4096" sz="2000" b="1" dirty="0">
                <a:latin typeface="Arial" panose="020B0604020202020204" pitchFamily="34" charset="0"/>
              </a:rPr>
              <a:t>1. 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Step-Cost Shaping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Adds a small negative reward (−0.01) for every step.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Encourages shorter paths and provides dense, continuous feedback.</a:t>
            </a:r>
            <a:endParaRPr kumimoji="0" lang="en-GB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GB" altLang="LID4096" sz="2000" b="1" dirty="0">
                <a:latin typeface="Arial" panose="020B0604020202020204" pitchFamily="34" charset="0"/>
              </a:rPr>
              <a:t>2. 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Potential-Based Distance Shaping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Uses negative Manhattan distance to the goal as a potential function.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Rewards moves that reduce distance and penalizes moves away from the goal</a:t>
            </a:r>
            <a:endParaRPr kumimoji="0" lang="en-GB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</a:t>
            </a:r>
            <a:r>
              <a:rPr kumimoji="0" lang="en-GB" altLang="LID4096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Safe Position Reward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Rewards states far from holes and penalizes risky or terminal positions.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Reduces failure risk in slippery, stochastic environments.</a:t>
            </a:r>
            <a:endParaRPr kumimoji="0" lang="en-GB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GB" altLang="LID4096" sz="2000" b="1" dirty="0">
                <a:latin typeface="Arial" panose="020B0604020202020204" pitchFamily="34" charset="0"/>
              </a:rPr>
              <a:t>4.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Safe Progress Reward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Combines goal progress with safety-aware rewards.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Encourages paths that balance efficiency and risk avoidance.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D5C61-0B50-0E29-D4EF-7B20BF4E4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461B6C-E816-4669-B4AB-B1DC65E1D715}" type="slidenum">
              <a:rPr lang="LID4096" smtClean="0"/>
              <a:pPr>
                <a:spcAft>
                  <a:spcPts val="600"/>
                </a:spcAft>
              </a:pPr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4450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EACF520-4B72-D28D-F276-A32DD36C4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HyperParameters</a:t>
            </a:r>
            <a:endParaRPr lang="LID4096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317D1-E4F1-A913-8291-85BEDC747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9830" y="678062"/>
            <a:ext cx="5872089" cy="5610196"/>
          </a:xfrm>
        </p:spPr>
        <p:txBody>
          <a:bodyPr anchor="ctr">
            <a:normAutofit fontScale="92500" lnSpcReduction="20000"/>
          </a:bodyPr>
          <a:lstStyle/>
          <a:p>
            <a:r>
              <a:rPr lang="en-GB" sz="3500" dirty="0">
                <a:solidFill>
                  <a:schemeClr val="tx2"/>
                </a:solidFill>
              </a:rPr>
              <a:t>Learning rate (</a:t>
            </a:r>
            <a:r>
              <a:rPr lang="el-GR" sz="3500" dirty="0">
                <a:solidFill>
                  <a:schemeClr val="tx2"/>
                </a:solidFill>
              </a:rPr>
              <a:t>α): 0.1</a:t>
            </a:r>
          </a:p>
          <a:p>
            <a:r>
              <a:rPr lang="en-GB" sz="3500" dirty="0">
                <a:solidFill>
                  <a:schemeClr val="tx2"/>
                </a:solidFill>
              </a:rPr>
              <a:t>Discount factor (</a:t>
            </a:r>
            <a:r>
              <a:rPr lang="el-GR" sz="3500" dirty="0">
                <a:solidFill>
                  <a:schemeClr val="tx2"/>
                </a:solidFill>
              </a:rPr>
              <a:t>γ): 0.95</a:t>
            </a:r>
          </a:p>
          <a:p>
            <a:r>
              <a:rPr lang="en-GB" sz="3500" dirty="0">
                <a:solidFill>
                  <a:schemeClr val="tx2"/>
                </a:solidFill>
              </a:rPr>
              <a:t>Initial </a:t>
            </a:r>
            <a:r>
              <a:rPr lang="el-GR" sz="3500" dirty="0">
                <a:solidFill>
                  <a:schemeClr val="tx2"/>
                </a:solidFill>
              </a:rPr>
              <a:t>ε: { 0.05, 0.1, 0.2 }</a:t>
            </a:r>
          </a:p>
          <a:p>
            <a:r>
              <a:rPr lang="en-GB" sz="3500" dirty="0">
                <a:solidFill>
                  <a:schemeClr val="tx2"/>
                </a:solidFill>
              </a:rPr>
              <a:t>Minimum </a:t>
            </a:r>
            <a:r>
              <a:rPr lang="el-GR" sz="3500" dirty="0">
                <a:solidFill>
                  <a:schemeClr val="tx2"/>
                </a:solidFill>
              </a:rPr>
              <a:t>ε: 0.01</a:t>
            </a:r>
          </a:p>
          <a:p>
            <a:r>
              <a:rPr lang="el-GR" sz="3500" dirty="0">
                <a:solidFill>
                  <a:schemeClr val="tx2"/>
                </a:solidFill>
              </a:rPr>
              <a:t>ε </a:t>
            </a:r>
            <a:r>
              <a:rPr lang="en-GB" sz="3500" dirty="0">
                <a:solidFill>
                  <a:schemeClr val="tx2"/>
                </a:solidFill>
              </a:rPr>
              <a:t>decay: 0.0</a:t>
            </a:r>
          </a:p>
          <a:p>
            <a:r>
              <a:rPr lang="en-GB" sz="3500" dirty="0">
                <a:solidFill>
                  <a:schemeClr val="tx2"/>
                </a:solidFill>
              </a:rPr>
              <a:t>Episodes: 10,000</a:t>
            </a:r>
          </a:p>
          <a:p>
            <a:r>
              <a:rPr lang="en-GB" sz="3500" dirty="0">
                <a:solidFill>
                  <a:schemeClr val="tx2"/>
                </a:solidFill>
              </a:rPr>
              <a:t>Max steps per episode: 200</a:t>
            </a:r>
          </a:p>
          <a:p>
            <a:r>
              <a:rPr lang="en-GB" sz="3500" dirty="0">
                <a:solidFill>
                  <a:schemeClr val="tx2"/>
                </a:solidFill>
              </a:rPr>
              <a:t>Environment: Frozen Lake 7x7</a:t>
            </a:r>
          </a:p>
          <a:p>
            <a:r>
              <a:rPr lang="en-GB" sz="3500" dirty="0">
                <a:solidFill>
                  <a:schemeClr val="tx2"/>
                </a:solidFill>
              </a:rPr>
              <a:t>Slippery dynamics: True</a:t>
            </a:r>
          </a:p>
          <a:p>
            <a:r>
              <a:rPr lang="en-GB" sz="3500" dirty="0">
                <a:solidFill>
                  <a:schemeClr val="tx2"/>
                </a:solidFill>
              </a:rPr>
              <a:t>Shaping decay: 0.95</a:t>
            </a:r>
          </a:p>
          <a:p>
            <a:r>
              <a:rPr lang="en-GB" sz="3500" dirty="0">
                <a:solidFill>
                  <a:schemeClr val="tx2"/>
                </a:solidFill>
              </a:rPr>
              <a:t>Shaping strength: 0.1</a:t>
            </a:r>
          </a:p>
          <a:p>
            <a:endParaRPr lang="LID4096" sz="1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A713C-DD54-3B51-35B4-1EA25F27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461B6C-E816-4669-B4AB-B1DC65E1D715}" type="slidenum">
              <a:rPr lang="LID4096" smtClean="0"/>
              <a:pPr>
                <a:spcAft>
                  <a:spcPts val="600"/>
                </a:spcAft>
              </a:pPr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1499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1" name="Rectangle 616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163" name="Arc 616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65" name="Freeform: Shape 616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3B23E9D-80A9-CFD0-4291-842CB6568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6807" y="0"/>
            <a:ext cx="6524827" cy="683682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C043F8-FF4F-18C5-9619-3617A2F54B3B}"/>
              </a:ext>
            </a:extLst>
          </p:cNvPr>
          <p:cNvSpPr txBox="1"/>
          <p:nvPr/>
        </p:nvSpPr>
        <p:spPr>
          <a:xfrm>
            <a:off x="7977809" y="963299"/>
            <a:ext cx="4038600" cy="2991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Our Frozen Lake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98BFA-E970-81E9-5602-52686B07D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9461B6C-E816-4669-B4AB-B1DC65E1D71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814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759985-8293-83BA-665A-9B1E1B3B5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51" y="8825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Epsilon = 0.05 (MC)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154656-18EB-4546-6C29-1BD77654239D}"/>
              </a:ext>
            </a:extLst>
          </p:cNvPr>
          <p:cNvSpPr txBox="1"/>
          <p:nvPr/>
        </p:nvSpPr>
        <p:spPr>
          <a:xfrm>
            <a:off x="67427" y="1812226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Valid policy: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Regular: </a:t>
            </a:r>
            <a:r>
              <a:rPr lang="en-US" dirty="0">
                <a:solidFill>
                  <a:schemeClr val="accent6"/>
                </a:solidFill>
              </a:rPr>
              <a:t>V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Step Cost: </a:t>
            </a:r>
            <a:r>
              <a:rPr lang="en-US" dirty="0">
                <a:solidFill>
                  <a:srgbClr val="C00000"/>
                </a:solidFill>
              </a:rPr>
              <a:t>X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Negative Potential: </a:t>
            </a:r>
            <a:r>
              <a:rPr lang="en-US" dirty="0">
                <a:solidFill>
                  <a:srgbClr val="C00000"/>
                </a:solidFill>
              </a:rPr>
              <a:t>X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Safe Position: </a:t>
            </a:r>
            <a:r>
              <a:rPr lang="en-US" dirty="0">
                <a:solidFill>
                  <a:srgbClr val="C00000"/>
                </a:solidFill>
              </a:rPr>
              <a:t>X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Safe Progress: </a:t>
            </a:r>
            <a:r>
              <a:rPr lang="en-US" dirty="0">
                <a:solidFill>
                  <a:srgbClr val="C00000"/>
                </a:solidFill>
              </a:rPr>
              <a:t>X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612828-F329-6339-9539-381A3B8C1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0637" y="1616548"/>
            <a:ext cx="9548008" cy="4034032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88A9-60AE-7AC1-548F-74566E90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9461B6C-E816-4669-B4AB-B1DC65E1D71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441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99AB9-4FD7-6C7C-385B-221641BE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29B65-F37B-39B7-56E9-104F2F1D0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Epsilon = 0.1 (MC)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BC639C-5B15-A836-7789-44BB252AF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59337" y="2389218"/>
            <a:ext cx="8878888" cy="375133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33C716-1D5E-4072-6AEA-2AEC9A8A9197}"/>
              </a:ext>
            </a:extLst>
          </p:cNvPr>
          <p:cNvSpPr txBox="1"/>
          <p:nvPr/>
        </p:nvSpPr>
        <p:spPr>
          <a:xfrm>
            <a:off x="8727597" y="220307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Valid policy: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Regular: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V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Step Cost: </a:t>
            </a:r>
            <a:r>
              <a:rPr lang="en-US" sz="2000" dirty="0">
                <a:solidFill>
                  <a:srgbClr val="C00000"/>
                </a:solidFill>
              </a:rPr>
              <a:t>X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Negative Potential: </a:t>
            </a:r>
            <a:r>
              <a:rPr lang="en-US" sz="2000" dirty="0">
                <a:solidFill>
                  <a:srgbClr val="C00000"/>
                </a:solidFill>
              </a:rPr>
              <a:t>X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Safe Position: </a:t>
            </a:r>
            <a:r>
              <a:rPr lang="en-US" sz="2000" dirty="0">
                <a:solidFill>
                  <a:srgbClr val="C00000"/>
                </a:solidFill>
              </a:rPr>
              <a:t>X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Safe Progress: </a:t>
            </a:r>
            <a:r>
              <a:rPr lang="en-US" sz="2000" dirty="0">
                <a:solidFill>
                  <a:srgbClr val="C00000"/>
                </a:solidFill>
              </a:rPr>
              <a:t>X</a:t>
            </a:r>
            <a:r>
              <a:rPr lang="en-US" sz="2000" dirty="0"/>
              <a:t>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0B8EB2-9B13-18AF-098E-49A367D4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3555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F8BC7-48F1-A8AC-F175-6BBE5F32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E9B40-3858-4263-4D3B-EDA3CD95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71" y="136525"/>
            <a:ext cx="10515600" cy="1325563"/>
          </a:xfrm>
        </p:spPr>
        <p:txBody>
          <a:bodyPr/>
          <a:lstStyle/>
          <a:p>
            <a:r>
              <a:rPr lang="en-GB" dirty="0"/>
              <a:t>Epsilon = 0.2 (MC)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5D823-10D3-353F-D5CC-19346982C2EF}"/>
              </a:ext>
            </a:extLst>
          </p:cNvPr>
          <p:cNvSpPr txBox="1"/>
          <p:nvPr/>
        </p:nvSpPr>
        <p:spPr>
          <a:xfrm>
            <a:off x="428768" y="4646334"/>
            <a:ext cx="63052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Valid policy: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Regular: </a:t>
            </a:r>
            <a:r>
              <a:rPr lang="en-GB" dirty="0">
                <a:solidFill>
                  <a:srgbClr val="00B050"/>
                </a:solidFill>
              </a:rPr>
              <a:t>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Step Cost: </a:t>
            </a:r>
            <a:r>
              <a:rPr lang="en-GB" dirty="0">
                <a:solidFill>
                  <a:srgbClr val="C00000"/>
                </a:solidFill>
              </a:rPr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Negative Potential: </a:t>
            </a:r>
            <a:r>
              <a:rPr lang="en-GB" dirty="0">
                <a:solidFill>
                  <a:srgbClr val="C00000"/>
                </a:solidFill>
              </a:rPr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Safe Position: </a:t>
            </a:r>
            <a:r>
              <a:rPr lang="en-GB" dirty="0">
                <a:solidFill>
                  <a:srgbClr val="C00000"/>
                </a:solidFill>
              </a:rPr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Safe Progress: </a:t>
            </a:r>
            <a:r>
              <a:rPr lang="en-GB" dirty="0">
                <a:solidFill>
                  <a:srgbClr val="C00000"/>
                </a:solidFill>
              </a:rPr>
              <a:t>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0BAF6E-C5AB-AC87-8008-632B53DCA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248" y="1105158"/>
            <a:ext cx="9502648" cy="40162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3D2218-C004-991C-4062-D4D3D3F16C08}"/>
              </a:ext>
            </a:extLst>
          </p:cNvPr>
          <p:cNvCxnSpPr/>
          <p:nvPr/>
        </p:nvCxnSpPr>
        <p:spPr>
          <a:xfrm>
            <a:off x="779929" y="1105158"/>
            <a:ext cx="43904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55FED-A525-69F5-8676-10744E587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4785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9E917-F8A7-C30E-D55E-B1DB640D1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AD85-C65B-7ABD-A75B-5B1FFE0B8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71" y="136525"/>
            <a:ext cx="10515600" cy="1325563"/>
          </a:xfrm>
        </p:spPr>
        <p:txBody>
          <a:bodyPr/>
          <a:lstStyle/>
          <a:p>
            <a:r>
              <a:rPr lang="en-GB" dirty="0"/>
              <a:t>Epsilon = 0.2 (SARSA(0))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883D-C397-7452-485A-3BFCC4A1B927}"/>
              </a:ext>
            </a:extLst>
          </p:cNvPr>
          <p:cNvSpPr txBox="1"/>
          <p:nvPr/>
        </p:nvSpPr>
        <p:spPr>
          <a:xfrm>
            <a:off x="428768" y="4646334"/>
            <a:ext cx="63052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Valid policy: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Regular: </a:t>
            </a:r>
            <a:r>
              <a:rPr lang="en-GB" dirty="0">
                <a:solidFill>
                  <a:srgbClr val="92D050"/>
                </a:solidFill>
              </a:rPr>
              <a:t>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Step Cost: </a:t>
            </a:r>
            <a:r>
              <a:rPr lang="en-GB" dirty="0">
                <a:solidFill>
                  <a:srgbClr val="C00000"/>
                </a:solidFill>
              </a:rPr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Negative Potential: </a:t>
            </a:r>
            <a:r>
              <a:rPr lang="en-GB" dirty="0">
                <a:solidFill>
                  <a:srgbClr val="C00000"/>
                </a:solidFill>
              </a:rPr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Safe Position: </a:t>
            </a:r>
            <a:r>
              <a:rPr lang="en-GB" dirty="0">
                <a:solidFill>
                  <a:srgbClr val="C00000"/>
                </a:solidFill>
              </a:rPr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Safe Progress: </a:t>
            </a:r>
            <a:r>
              <a:rPr lang="en-GB" dirty="0">
                <a:solidFill>
                  <a:srgbClr val="C00000"/>
                </a:solidFill>
              </a:rPr>
              <a:t>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95B68B20-07D9-5AA5-39EE-C20CD3352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919" y="1221992"/>
            <a:ext cx="9358952" cy="39545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F32774-6796-9E74-D444-0B14FBED7229}"/>
              </a:ext>
            </a:extLst>
          </p:cNvPr>
          <p:cNvCxnSpPr/>
          <p:nvPr/>
        </p:nvCxnSpPr>
        <p:spPr>
          <a:xfrm>
            <a:off x="847165" y="1028700"/>
            <a:ext cx="55334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ABAE63-9649-67C6-E4C7-84392601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7036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EE02D0-3B01-E013-FFC4-042DDE7D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/>
              <a:t>Finding/Insights</a:t>
            </a:r>
            <a:endParaRPr lang="LID4096" sz="54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AB266C1-CC69-766A-F693-7DDA25EDE5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 reward shaping performed best</a:t>
            </a: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b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regular reward function achieved the highest performance, especially with the </a:t>
            </a:r>
            <a:r>
              <a:rPr kumimoji="0" lang="en-GB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MC</a:t>
            </a: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agent</a:t>
            </a:r>
            <a:r>
              <a:rPr lang="en-GB" altLang="LID4096" sz="1900">
                <a:latin typeface="Arial" panose="020B0604020202020204" pitchFamily="34" charset="0"/>
              </a:rPr>
              <a:t>.</a:t>
            </a:r>
            <a:endParaRPr kumimoji="0" lang="LID4096" altLang="LID4096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Custom reward shaping functions were ineffective</a:t>
            </a: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b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GB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All the custo</a:t>
            </a:r>
            <a:r>
              <a:rPr lang="en-GB" altLang="LID4096" sz="1900">
                <a:latin typeface="Arial" panose="020B0604020202020204" pitchFamily="34" charset="0"/>
              </a:rPr>
              <a:t>m function </a:t>
            </a: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often discouraged reaching the goal</a:t>
            </a:r>
            <a:r>
              <a:rPr lang="en-GB" altLang="LID4096" sz="1900">
                <a:latin typeface="Arial" panose="020B0604020202020204" pitchFamily="34" charset="0"/>
              </a:rPr>
              <a:t>,</a:t>
            </a:r>
            <a:r>
              <a:rPr kumimoji="0" lang="en-GB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either by reducing motivation, favoring misleading local rewards, or overly avoiding risky (but necessary) paths.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Exploration matters more with shaping</a:t>
            </a: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b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Higher ε increased </a:t>
            </a:r>
            <a:r>
              <a:rPr kumimoji="0" lang="en-GB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chance to reach the </a:t>
            </a: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goal for shaped rewards, but still did </a:t>
            </a:r>
            <a:r>
              <a:rPr kumimoji="0" lang="LID4096" altLang="LID4096" sz="19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not outperform </a:t>
            </a: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no-shaping baseline.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Algorithm comparison</a:t>
            </a: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b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</a:t>
            </a:r>
            <a:r>
              <a:rPr kumimoji="0" lang="en-GB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</a:t>
            </a: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outperformed SARSA(0) with no shaping.</a:t>
            </a:r>
            <a:b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SARSA(0) showed slight improvement with </a:t>
            </a:r>
            <a:r>
              <a:rPr kumimoji="0" lang="LID4096" altLang="LID4096" sz="19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Safe Progress</a:t>
            </a:r>
            <a:r>
              <a:rPr kumimoji="0" lang="LID4096" altLang="LID4096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but not enough to justify its use.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LID4096" altLang="LID4096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789B5-BE98-520A-3A02-731DED50D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461B6C-E816-4669-B4AB-B1DC65E1D715}" type="slidenum">
              <a:rPr lang="LID4096" smtClean="0"/>
              <a:pPr>
                <a:spcAft>
                  <a:spcPts val="600"/>
                </a:spcAft>
              </a:pPr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15373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478E7-6A45-66AD-7B55-D161069F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b="1"/>
              <a:t>Conclusions (1/2)</a:t>
            </a:r>
            <a:endParaRPr lang="LID4096" sz="48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A650AF2-B14C-7ABC-18CB-B1A3E72FDF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GB" altLang="LID4096" sz="2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LID4096" altLang="LID4096" sz="2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Across 20 independent runs, results revealed counterintuitive effects of reward shaping, challenging common assumptions in reinforcement learning.</a:t>
            </a:r>
            <a:endParaRPr kumimoji="0" lang="en-GB" altLang="LID4096" sz="20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LID4096" altLang="LID4096" sz="20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Identified failure modes per strategy: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LID4096" altLang="LID4096" sz="200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Step cost</a:t>
            </a:r>
            <a:r>
              <a:rPr kumimoji="0" lang="LID4096" altLang="LID4096" sz="2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Demotivated the agent on long paths, conflicting with goal completion.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LID4096" altLang="LID4096" sz="200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Potential-based distance</a:t>
            </a:r>
            <a:r>
              <a:rPr kumimoji="0" lang="LID4096" altLang="LID4096" sz="2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Trapped the agent in local optima based on Manhattan distance.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LID4096" altLang="LID4096" sz="200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Safe position</a:t>
            </a:r>
            <a:r>
              <a:rPr kumimoji="0" lang="LID4096" altLang="LID4096" sz="2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Overly conservative behavior, avoiding necessary risky moves.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LID4096" altLang="LID4096" sz="200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Safe progress</a:t>
            </a:r>
            <a:r>
              <a:rPr kumimoji="0" lang="LID4096" altLang="LID4096" sz="2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Combined conservatism with local-optima issues.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LID4096" altLang="LID4096" sz="20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0717B-2186-51FC-026B-8213AC670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461B6C-E816-4669-B4AB-B1DC65E1D715}" type="slidenum">
              <a:rPr lang="LID4096" smtClean="0"/>
              <a:pPr>
                <a:spcAft>
                  <a:spcPts val="600"/>
                </a:spcAft>
              </a:pPr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8969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C5C670-D275-9FEF-8E1C-2949510F1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9E58F-584F-B12C-E93D-09B9A249E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b="1"/>
              <a:t>Conclusions (2/2)</a:t>
            </a:r>
            <a:endParaRPr lang="LID4096" sz="48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986AC67-BCE5-BC5F-C44B-685B08E51F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GB" sz="2400"/>
              <a:t>Main takeaway:</a:t>
            </a:r>
            <a:br>
              <a:rPr lang="en-GB" sz="2400"/>
            </a:br>
            <a:r>
              <a:rPr lang="en-GB" sz="2400"/>
              <a:t>Reward shaping is not universally beneficial. In stochastic, sparse-reward environments, simpler reward structures can outperform complex shaping.</a:t>
            </a:r>
          </a:p>
          <a:p>
            <a:r>
              <a:rPr lang="en-GB" sz="2400"/>
              <a:t>Practical implication:</a:t>
            </a:r>
            <a:br>
              <a:rPr lang="en-GB" sz="2400"/>
            </a:br>
            <a:r>
              <a:rPr lang="en-GB" sz="2400"/>
              <a:t>Effective shaping requires tight alignment with the true task objective; misalignment introduces competing incentives that degrade performance.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24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8E0AE-7225-72A8-A1E6-93FBEF7FF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461B6C-E816-4669-B4AB-B1DC65E1D715}" type="slidenum">
              <a:rPr lang="LID4096" smtClean="0"/>
              <a:pPr>
                <a:spcAft>
                  <a:spcPts val="600"/>
                </a:spcAft>
              </a:pPr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5475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69D2-A5A0-0742-14B7-8F1898141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Thank You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C7726-39D7-B5E7-CA14-43A1F0EA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1B6C-E816-4669-B4AB-B1DC65E1D715}" type="slidenum">
              <a:rPr lang="LID4096" smtClean="0"/>
              <a:t>12</a:t>
            </a:fld>
            <a:endParaRPr lang="LID4096"/>
          </a:p>
        </p:txBody>
      </p:sp>
      <p:pic>
        <p:nvPicPr>
          <p:cNvPr id="4098" name="Picture 2" descr="Fin Word On Concrette Wall Stock Photo, Picture and Royalty Free Image.  Image 51631217.">
            <a:extLst>
              <a:ext uri="{FF2B5EF4-FFF2-40B4-BE49-F238E27FC236}">
                <a16:creationId xmlns:a16="http://schemas.microsoft.com/office/drawing/2014/main" id="{0C4EFB93-D994-B5C2-83DE-DB8AE1297B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459" y="1389526"/>
            <a:ext cx="567376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6BCF36-5C98-370F-B629-0DA23E0F8BF5}"/>
              </a:ext>
            </a:extLst>
          </p:cNvPr>
          <p:cNvSpPr txBox="1"/>
          <p:nvPr/>
        </p:nvSpPr>
        <p:spPr>
          <a:xfrm>
            <a:off x="4471181" y="6012906"/>
            <a:ext cx="3249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Shlomi &amp; Kfir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1858898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566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Reinforcement Learning Project - </vt:lpstr>
      <vt:lpstr>Reward Shaping Functions</vt:lpstr>
      <vt:lpstr>HyperParameters</vt:lpstr>
      <vt:lpstr>PowerPoint Presentation</vt:lpstr>
      <vt:lpstr>Epsilon = 0.05 (MC)</vt:lpstr>
      <vt:lpstr>Epsilon = 0.1 (MC)</vt:lpstr>
      <vt:lpstr>Epsilon = 0.2 (MC)</vt:lpstr>
      <vt:lpstr>Epsilon = 0.2 (SARSA(0))</vt:lpstr>
      <vt:lpstr>Finding/Insights</vt:lpstr>
      <vt:lpstr>Conclusions (1/2)</vt:lpstr>
      <vt:lpstr>Conclusions (2/2)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כפיר אמויאל</dc:creator>
  <cp:lastModifiedBy>כפיר אמויאל</cp:lastModifiedBy>
  <cp:revision>3</cp:revision>
  <dcterms:created xsi:type="dcterms:W3CDTF">2026-01-21T15:07:39Z</dcterms:created>
  <dcterms:modified xsi:type="dcterms:W3CDTF">2026-01-21T16:50:14Z</dcterms:modified>
</cp:coreProperties>
</file>